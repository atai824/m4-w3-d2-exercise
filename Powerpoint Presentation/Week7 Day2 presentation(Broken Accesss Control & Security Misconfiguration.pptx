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A7B"/>
    <a:srgbClr val="6875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D375E9-E2F0-4924-8D94-781E4583D3C6}" v="27" dt="2025-12-10T02:53:05.361"/>
    <p1510:client id="{319DFA07-F71A-4E49-ADEC-200DBC43D98C}" v="70" dt="2025-12-10T03:05:24.789"/>
    <p1510:client id="{9056443F-4374-4AD4-A09C-DFE9172B4824}" v="178" dt="2025-12-10T03:25:54.9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Изображение выглядит как компьютер, ноутбук,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7822732-DFC6-E327-905C-C4CC4ADA55D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573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ru-RU">
                <a:solidFill>
                  <a:srgbClr val="FFFFFF"/>
                </a:solidFill>
                <a:ea typeface="+mj-lt"/>
                <a:cs typeface="+mj-lt"/>
              </a:rPr>
              <a:t>Web Security: Broken Access Control &amp; Security Misconfiguration</a:t>
            </a:r>
            <a:endParaRPr lang="ru-RU">
              <a:solidFill>
                <a:srgbClr val="FFFFFF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>
                <a:solidFill>
                  <a:srgbClr val="FFFFFF"/>
                </a:solidFill>
              </a:rPr>
              <a:t>Atai Toktosunov</a:t>
            </a: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Объект 3" descr="Изображение выглядит как текст, Графика, графический дизайн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92A9F9D-A8C5-7260-5FC3-22C3EF977B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0626" b="-5"/>
          <a:stretch>
            <a:fillRect/>
          </a:stretch>
        </p:blipFill>
        <p:spPr>
          <a:xfrm>
            <a:off x="3273917" y="10"/>
            <a:ext cx="8918081" cy="685799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5A3FFC-C136-6F77-DB1E-C52C89FAB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Broken Access Control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253CC3-FDED-4E14-E715-1F54BF3E42B5}"/>
              </a:ext>
            </a:extLst>
          </p:cNvPr>
          <p:cNvSpPr txBox="1"/>
          <p:nvPr/>
        </p:nvSpPr>
        <p:spPr>
          <a:xfrm>
            <a:off x="838200" y="2434201"/>
            <a:ext cx="3822189" cy="374276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Broken Access Control is a situation where an application incorrectly restricts access to resources.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The user may receive data or functions that are not intended for him.</a:t>
            </a:r>
          </a:p>
        </p:txBody>
      </p:sp>
    </p:spTree>
    <p:extLst>
      <p:ext uri="{BB962C8B-B14F-4D97-AF65-F5344CB8AC3E}">
        <p14:creationId xmlns:p14="http://schemas.microsoft.com/office/powerpoint/2010/main" val="1788872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22587ECF-85E9-4393-9D87-8EB6F3F6C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9B8721-B7CF-81A7-AA51-BEC9AA658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37883"/>
            <a:ext cx="5138601" cy="1420893"/>
          </a:xfrm>
        </p:spPr>
        <p:txBody>
          <a:bodyPr anchor="b">
            <a:normAutofit/>
          </a:bodyPr>
          <a:lstStyle/>
          <a:p>
            <a:r>
              <a:rPr lang="ru-RU" sz="4000">
                <a:ea typeface="+mj-lt"/>
                <a:cs typeface="+mj-lt"/>
              </a:rPr>
              <a:t>How Hackers Exploit It</a:t>
            </a:r>
            <a:endParaRPr lang="ru-RU" sz="400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7AB888-8977-20D0-FF8B-8D8DF902A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686323"/>
            <a:ext cx="4783697" cy="343358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ru-RU" sz="2000" dirty="0" err="1">
                <a:ea typeface="+mn-lt"/>
                <a:cs typeface="+mn-lt"/>
              </a:rPr>
              <a:t>Examples</a:t>
            </a:r>
            <a:r>
              <a:rPr lang="ru-RU" sz="2000" dirty="0">
                <a:ea typeface="+mn-lt"/>
                <a:cs typeface="+mn-lt"/>
              </a:rPr>
              <a:t> </a:t>
            </a:r>
            <a:r>
              <a:rPr lang="ru-RU" sz="2000" dirty="0" err="1">
                <a:ea typeface="+mn-lt"/>
                <a:cs typeface="+mn-lt"/>
              </a:rPr>
              <a:t>of</a:t>
            </a:r>
            <a:r>
              <a:rPr lang="ru-RU" sz="2000" dirty="0">
                <a:ea typeface="+mn-lt"/>
                <a:cs typeface="+mn-lt"/>
              </a:rPr>
              <a:t> </a:t>
            </a:r>
            <a:r>
              <a:rPr lang="ru-RU" sz="2000" dirty="0" err="1">
                <a:ea typeface="+mn-lt"/>
                <a:cs typeface="+mn-lt"/>
              </a:rPr>
              <a:t>attack</a:t>
            </a:r>
            <a:r>
              <a:rPr lang="ru-RU" sz="2000" dirty="0">
                <a:ea typeface="+mn-lt"/>
                <a:cs typeface="+mn-lt"/>
              </a:rPr>
              <a:t>:</a:t>
            </a:r>
            <a:endParaRPr lang="ru-RU" sz="2000" dirty="0"/>
          </a:p>
          <a:p>
            <a:r>
              <a:rPr lang="ru-RU" sz="2000">
                <a:ea typeface="+mn-lt"/>
                <a:cs typeface="+mn-lt"/>
              </a:rPr>
              <a:t>Change the ID in the URL: /user/101 → user/102</a:t>
            </a:r>
            <a:endParaRPr lang="ru-RU" sz="2000"/>
          </a:p>
          <a:p>
            <a:r>
              <a:rPr lang="ru-RU" sz="2000">
                <a:ea typeface="+mn-lt"/>
                <a:cs typeface="+mn-lt"/>
              </a:rPr>
              <a:t>They send requests via DevTools with the admin role</a:t>
            </a:r>
            <a:endParaRPr lang="ru-RU" sz="2000"/>
          </a:p>
          <a:p>
            <a:r>
              <a:rPr lang="ru-RU" sz="2000">
                <a:ea typeface="+mn-lt"/>
                <a:cs typeface="+mn-lt"/>
              </a:rPr>
              <a:t>They receive files directly via a direct link</a:t>
            </a:r>
            <a:endParaRPr lang="ru-RU" sz="2000"/>
          </a:p>
          <a:p>
            <a:r>
              <a:rPr lang="ru-RU" sz="2000">
                <a:ea typeface="+mn-lt"/>
                <a:cs typeface="+mn-lt"/>
              </a:rPr>
              <a:t>Perform actions that should only be for privileged users.</a:t>
            </a:r>
            <a:endParaRPr lang="ru-RU" sz="2000"/>
          </a:p>
        </p:txBody>
      </p:sp>
      <p:pic>
        <p:nvPicPr>
          <p:cNvPr id="4" name="Рисунок 3" descr="Изображение выглядит как текст, диаграмма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BB8E5BD-4F4E-A85D-08C9-9AB5DBFF9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424" y="1625387"/>
            <a:ext cx="5365375" cy="340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259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2587ECF-85E9-4393-9D87-8EB6F3F6C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9B713E-AEBF-D640-A504-602E82AC4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37883"/>
            <a:ext cx="4783697" cy="1942810"/>
          </a:xfrm>
        </p:spPr>
        <p:txBody>
          <a:bodyPr anchor="b">
            <a:normAutofit/>
          </a:bodyPr>
          <a:lstStyle/>
          <a:p>
            <a:r>
              <a:rPr lang="ru-RU" sz="4000">
                <a:ea typeface="+mj-lt"/>
                <a:cs typeface="+mj-lt"/>
              </a:rPr>
              <a:t>How to Prevent Broken Access Control</a:t>
            </a:r>
            <a:endParaRPr lang="ru-RU" sz="400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09FB70-3811-567E-6A63-FD4DFEC77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686323"/>
            <a:ext cx="4783697" cy="343358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ru-RU" sz="2000">
                <a:ea typeface="+mn-lt"/>
                <a:cs typeface="+mn-lt"/>
              </a:rPr>
              <a:t>Prevention:</a:t>
            </a:r>
            <a:endParaRPr lang="ru-RU" sz="2000"/>
          </a:p>
          <a:p>
            <a:r>
              <a:rPr lang="ru-RU" sz="2000">
                <a:ea typeface="+mn-lt"/>
                <a:cs typeface="+mn-lt"/>
              </a:rPr>
              <a:t>Checking all rights on the server, not in the browser</a:t>
            </a:r>
            <a:endParaRPr lang="ru-RU" sz="2000"/>
          </a:p>
          <a:p>
            <a:r>
              <a:rPr lang="ru-RU" sz="2000">
                <a:ea typeface="+mn-lt"/>
                <a:cs typeface="+mn-lt"/>
              </a:rPr>
              <a:t>Clear authorization rules (RBAC, roles, permissions)</a:t>
            </a:r>
            <a:endParaRPr lang="ru-RU" sz="2000"/>
          </a:p>
          <a:p>
            <a:r>
              <a:rPr lang="ru-RU" sz="2000">
                <a:ea typeface="+mn-lt"/>
                <a:cs typeface="+mn-lt"/>
              </a:rPr>
              <a:t>Do not trust user data (ID, role, email in the request)</a:t>
            </a:r>
            <a:endParaRPr lang="ru-RU" sz="2000"/>
          </a:p>
          <a:p>
            <a:r>
              <a:rPr lang="ru-RU" sz="2000">
                <a:ea typeface="+mn-lt"/>
                <a:cs typeface="+mn-lt"/>
              </a:rPr>
              <a:t>Restricting access to API routes</a:t>
            </a:r>
            <a:endParaRPr lang="ru-RU" sz="2000"/>
          </a:p>
          <a:p>
            <a:r>
              <a:rPr lang="ru-RU" sz="2000">
                <a:ea typeface="+mn-lt"/>
                <a:cs typeface="+mn-lt"/>
              </a:rPr>
              <a:t>Regular testing of access scenarios</a:t>
            </a:r>
            <a:endParaRPr lang="ru-RU" sz="2000"/>
          </a:p>
        </p:txBody>
      </p:sp>
      <p:pic>
        <p:nvPicPr>
          <p:cNvPr id="4" name="Рисунок 3" descr="Изображение выглядит как текст, диаграмма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7A3328F-325B-BF98-DD38-DA7FEDB10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424" y="1625387"/>
            <a:ext cx="5365375" cy="340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03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 descr="Изображение выглядит как текст, снимок экрана, Шрифт, логотип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7986C78-AB1F-2750-97FE-354DBB078E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38" r="5938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544D0A-4452-4C82-C1B6-15807C3A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ru-RU" sz="4000">
                <a:ea typeface="+mj-lt"/>
                <a:cs typeface="+mj-lt"/>
              </a:rPr>
              <a:t>Security Misconfiguration</a:t>
            </a:r>
            <a:endParaRPr lang="ru-RU" sz="400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8FB4C3-1828-93C6-020C-114D57E42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ru-RU" sz="1600">
                <a:ea typeface="+mn-lt"/>
                <a:cs typeface="+mn-lt"/>
              </a:rPr>
              <a:t>Definition:</a:t>
            </a:r>
            <a:endParaRPr lang="ru-RU" sz="1600"/>
          </a:p>
          <a:p>
            <a:pPr marL="0" indent="0">
              <a:buNone/>
            </a:pPr>
            <a:r>
              <a:rPr lang="ru-RU" sz="1600">
                <a:ea typeface="+mn-lt"/>
                <a:cs typeface="+mn-lt"/>
              </a:rPr>
              <a:t>Security Misconfiguration is incorrect server, framework, or database settings.</a:t>
            </a:r>
            <a:endParaRPr lang="ru-RU" sz="1600"/>
          </a:p>
          <a:p>
            <a:pPr marL="0" indent="0">
              <a:buNone/>
            </a:pPr>
            <a:r>
              <a:rPr lang="ru-RU" sz="1600">
                <a:ea typeface="+mn-lt"/>
                <a:cs typeface="+mn-lt"/>
              </a:rPr>
              <a:t>Examples:</a:t>
            </a:r>
            <a:endParaRPr lang="ru-RU" sz="1600"/>
          </a:p>
          <a:p>
            <a:r>
              <a:rPr lang="ru-RU" sz="1600">
                <a:ea typeface="+mn-lt"/>
                <a:cs typeface="+mn-lt"/>
              </a:rPr>
              <a:t>Debug mode enabled in production</a:t>
            </a:r>
            <a:endParaRPr lang="ru-RU" sz="1600"/>
          </a:p>
          <a:p>
            <a:r>
              <a:rPr lang="ru-RU" sz="1600">
                <a:ea typeface="+mn-lt"/>
                <a:cs typeface="+mn-lt"/>
              </a:rPr>
              <a:t>Unchanged default logins and passwords</a:t>
            </a:r>
            <a:endParaRPr lang="ru-RU" sz="1600"/>
          </a:p>
          <a:p>
            <a:r>
              <a:rPr lang="ru-RU" sz="1600">
                <a:ea typeface="+mn-lt"/>
                <a:cs typeface="+mn-lt"/>
              </a:rPr>
              <a:t>Open admin panels</a:t>
            </a:r>
            <a:endParaRPr lang="ru-RU" sz="1600"/>
          </a:p>
          <a:p>
            <a:r>
              <a:rPr lang="ru-RU" sz="1600">
                <a:ea typeface="+mn-lt"/>
                <a:cs typeface="+mn-lt"/>
              </a:rPr>
              <a:t>Public files and folders that should be closed</a:t>
            </a:r>
            <a:endParaRPr lang="ru-RU" sz="1600"/>
          </a:p>
          <a:p>
            <a:r>
              <a:rPr lang="ru-RU" sz="1600">
                <a:ea typeface="+mn-lt"/>
                <a:cs typeface="+mn-lt"/>
              </a:rPr>
              <a:t>Error messages that are too detailed</a:t>
            </a:r>
            <a:endParaRPr lang="ru-RU" sz="1600"/>
          </a:p>
        </p:txBody>
      </p:sp>
    </p:spTree>
    <p:extLst>
      <p:ext uri="{BB962C8B-B14F-4D97-AF65-F5344CB8AC3E}">
        <p14:creationId xmlns:p14="http://schemas.microsoft.com/office/powerpoint/2010/main" val="2045645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A79D37-2B3C-D744-2202-023351E80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ru-RU" sz="3400">
                <a:ea typeface="+mj-lt"/>
                <a:cs typeface="+mj-lt"/>
              </a:rPr>
              <a:t>How Hackers Exploit Misconfigurations</a:t>
            </a:r>
            <a:endParaRPr lang="ru-RU" sz="34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45DE46-F05B-DCEC-FB4A-3819E1958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ru-RU" sz="1800">
                <a:ea typeface="+mn-lt"/>
                <a:cs typeface="+mn-lt"/>
              </a:rPr>
              <a:t>Examples:</a:t>
            </a:r>
            <a:endParaRPr lang="ru-RU" sz="1800"/>
          </a:p>
          <a:p>
            <a:r>
              <a:rPr lang="ru-RU" sz="1800">
                <a:ea typeface="+mn-lt"/>
                <a:cs typeface="+mn-lt"/>
              </a:rPr>
              <a:t>Through debug panels, they receive a stack trace and secret information.</a:t>
            </a:r>
            <a:endParaRPr lang="ru-RU" sz="1800"/>
          </a:p>
          <a:p>
            <a:r>
              <a:rPr lang="ru-RU" sz="1800">
                <a:ea typeface="+mn-lt"/>
                <a:cs typeface="+mn-lt"/>
              </a:rPr>
              <a:t>They find open MongoDB databases without a password</a:t>
            </a:r>
            <a:endParaRPr lang="ru-RU" sz="1800"/>
          </a:p>
          <a:p>
            <a:r>
              <a:rPr lang="ru-RU" sz="1800">
                <a:ea typeface="+mn-lt"/>
                <a:cs typeface="+mn-lt"/>
              </a:rPr>
              <a:t>They use automatic scanners to find /admin, /phpinfo, /swagger</a:t>
            </a:r>
            <a:endParaRPr lang="ru-RU" sz="1800"/>
          </a:p>
          <a:p>
            <a:r>
              <a:rPr lang="ru-RU" sz="1800">
                <a:ea typeface="+mn-lt"/>
                <a:cs typeface="+mn-lt"/>
              </a:rPr>
              <a:t>Log in to accounts with default passwords: admin/admin</a:t>
            </a:r>
            <a:endParaRPr lang="ru-RU" sz="1800"/>
          </a:p>
        </p:txBody>
      </p:sp>
      <p:pic>
        <p:nvPicPr>
          <p:cNvPr id="4" name="Рисунок 3" descr="Изображение выглядит как текст, снимок экрана, диаграмм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DE27785-E631-0626-6590-220A3AE30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730" y="2087346"/>
            <a:ext cx="7247245" cy="317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475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AD7965-D7B5-B279-0607-9194AA883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A166B85-05AD-BAD9-E065-5DB2FB83A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162D8D-2996-8E2E-8129-55F871605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ru-RU" sz="3400" dirty="0" err="1">
                <a:ea typeface="+mj-lt"/>
                <a:cs typeface="+mj-lt"/>
              </a:rPr>
              <a:t>How</a:t>
            </a:r>
            <a:r>
              <a:rPr lang="ru-RU" sz="3400" dirty="0">
                <a:ea typeface="+mj-lt"/>
                <a:cs typeface="+mj-lt"/>
              </a:rPr>
              <a:t> </a:t>
            </a:r>
            <a:r>
              <a:rPr lang="ru-RU" sz="3400" dirty="0" err="1">
                <a:ea typeface="+mj-lt"/>
                <a:cs typeface="+mj-lt"/>
              </a:rPr>
              <a:t>to</a:t>
            </a:r>
            <a:r>
              <a:rPr lang="ru-RU" sz="3400" dirty="0">
                <a:ea typeface="+mj-lt"/>
                <a:cs typeface="+mj-lt"/>
              </a:rPr>
              <a:t> </a:t>
            </a:r>
            <a:r>
              <a:rPr lang="ru-RU" sz="3400" dirty="0" err="1">
                <a:ea typeface="+mj-lt"/>
                <a:cs typeface="+mj-lt"/>
              </a:rPr>
              <a:t>Prevent</a:t>
            </a:r>
            <a:r>
              <a:rPr lang="ru-RU" sz="3400" dirty="0">
                <a:ea typeface="+mj-lt"/>
                <a:cs typeface="+mj-lt"/>
              </a:rPr>
              <a:t> Security </a:t>
            </a:r>
            <a:r>
              <a:rPr lang="ru-RU" sz="3400" dirty="0" err="1">
                <a:ea typeface="+mj-lt"/>
                <a:cs typeface="+mj-lt"/>
              </a:rPr>
              <a:t>Misconfiguration</a:t>
            </a:r>
            <a:endParaRPr lang="ru-RU" dirty="0" err="1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024D0C8-F444-D1B8-943A-51AF65F38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C6B7D1-5E03-7CC6-57C2-629ED289A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ru-RU" sz="1800" dirty="0" err="1">
                <a:ea typeface="+mn-lt"/>
                <a:cs typeface="+mn-lt"/>
              </a:rPr>
              <a:t>Prevention</a:t>
            </a:r>
            <a:r>
              <a:rPr lang="ru-RU" sz="1800" dirty="0">
                <a:ea typeface="+mn-lt"/>
                <a:cs typeface="+mn-lt"/>
              </a:rPr>
              <a:t>:</a:t>
            </a:r>
            <a:endParaRPr lang="ru-RU" dirty="0">
              <a:ea typeface="+mn-lt"/>
              <a:cs typeface="+mn-lt"/>
            </a:endParaRPr>
          </a:p>
          <a:p>
            <a:r>
              <a:rPr lang="ru-RU" sz="1800" err="1">
                <a:ea typeface="+mn-lt"/>
                <a:cs typeface="+mn-lt"/>
              </a:rPr>
              <a:t>Disable</a:t>
            </a:r>
            <a:r>
              <a:rPr lang="ru-RU" sz="1800" dirty="0">
                <a:ea typeface="+mn-lt"/>
                <a:cs typeface="+mn-lt"/>
              </a:rPr>
              <a:t> </a:t>
            </a:r>
            <a:r>
              <a:rPr lang="ru-RU" sz="1800" err="1">
                <a:ea typeface="+mn-lt"/>
                <a:cs typeface="+mn-lt"/>
              </a:rPr>
              <a:t>debug</a:t>
            </a:r>
            <a:r>
              <a:rPr lang="ru-RU" sz="1800" dirty="0">
                <a:ea typeface="+mn-lt"/>
                <a:cs typeface="+mn-lt"/>
              </a:rPr>
              <a:t> </a:t>
            </a:r>
            <a:r>
              <a:rPr lang="ru-RU" sz="1800" err="1">
                <a:ea typeface="+mn-lt"/>
                <a:cs typeface="+mn-lt"/>
              </a:rPr>
              <a:t>mode</a:t>
            </a:r>
            <a:endParaRPr lang="ru-RU" err="1"/>
          </a:p>
          <a:p>
            <a:r>
              <a:rPr lang="ru-RU" sz="1800" dirty="0" err="1">
                <a:ea typeface="+mn-lt"/>
                <a:cs typeface="+mn-lt"/>
              </a:rPr>
              <a:t>Delete</a:t>
            </a:r>
            <a:r>
              <a:rPr lang="ru-RU" sz="1800" dirty="0">
                <a:ea typeface="+mn-lt"/>
                <a:cs typeface="+mn-lt"/>
              </a:rPr>
              <a:t> </a:t>
            </a:r>
            <a:r>
              <a:rPr lang="ru-RU" sz="1800" dirty="0" err="1">
                <a:ea typeface="+mn-lt"/>
                <a:cs typeface="+mn-lt"/>
              </a:rPr>
              <a:t>test</a:t>
            </a:r>
            <a:r>
              <a:rPr lang="ru-RU" sz="1800" dirty="0">
                <a:ea typeface="+mn-lt"/>
                <a:cs typeface="+mn-lt"/>
              </a:rPr>
              <a:t> </a:t>
            </a:r>
            <a:r>
              <a:rPr lang="ru-RU" sz="1800" dirty="0" err="1">
                <a:ea typeface="+mn-lt"/>
                <a:cs typeface="+mn-lt"/>
              </a:rPr>
              <a:t>files</a:t>
            </a:r>
            <a:r>
              <a:rPr lang="ru-RU" sz="1800" dirty="0">
                <a:ea typeface="+mn-lt"/>
                <a:cs typeface="+mn-lt"/>
              </a:rPr>
              <a:t>, </a:t>
            </a:r>
            <a:r>
              <a:rPr lang="ru-RU" sz="1800" dirty="0" err="1">
                <a:ea typeface="+mn-lt"/>
                <a:cs typeface="+mn-lt"/>
              </a:rPr>
              <a:t>temporary</a:t>
            </a:r>
            <a:r>
              <a:rPr lang="ru-RU" sz="1800" dirty="0">
                <a:ea typeface="+mn-lt"/>
                <a:cs typeface="+mn-lt"/>
              </a:rPr>
              <a:t> </a:t>
            </a:r>
            <a:r>
              <a:rPr lang="ru-RU" sz="1800" dirty="0" err="1">
                <a:ea typeface="+mn-lt"/>
                <a:cs typeface="+mn-lt"/>
              </a:rPr>
              <a:t>APIs</a:t>
            </a:r>
            <a:r>
              <a:rPr lang="ru-RU" sz="1800" dirty="0">
                <a:ea typeface="+mn-lt"/>
                <a:cs typeface="+mn-lt"/>
              </a:rPr>
              <a:t>, </a:t>
            </a:r>
            <a:r>
              <a:rPr lang="ru-RU" sz="1800" dirty="0" err="1">
                <a:ea typeface="+mn-lt"/>
                <a:cs typeface="+mn-lt"/>
              </a:rPr>
              <a:t>old</a:t>
            </a:r>
            <a:r>
              <a:rPr lang="ru-RU" sz="1800" dirty="0">
                <a:ea typeface="+mn-lt"/>
                <a:cs typeface="+mn-lt"/>
              </a:rPr>
              <a:t> </a:t>
            </a:r>
            <a:r>
              <a:rPr lang="ru-RU" sz="1800" dirty="0" err="1">
                <a:ea typeface="+mn-lt"/>
                <a:cs typeface="+mn-lt"/>
              </a:rPr>
              <a:t>endpoints</a:t>
            </a:r>
            <a:endParaRPr lang="ru-RU" dirty="0" err="1"/>
          </a:p>
          <a:p>
            <a:r>
              <a:rPr lang="ru-RU" sz="1800" dirty="0">
                <a:ea typeface="+mn-lt"/>
                <a:cs typeface="+mn-lt"/>
              </a:rPr>
              <a:t>Change </a:t>
            </a:r>
            <a:r>
              <a:rPr lang="ru-RU" sz="1800" dirty="0" err="1">
                <a:ea typeface="+mn-lt"/>
                <a:cs typeface="+mn-lt"/>
              </a:rPr>
              <a:t>default</a:t>
            </a:r>
            <a:r>
              <a:rPr lang="ru-RU" sz="1800" dirty="0">
                <a:ea typeface="+mn-lt"/>
                <a:cs typeface="+mn-lt"/>
              </a:rPr>
              <a:t> </a:t>
            </a:r>
            <a:r>
              <a:rPr lang="ru-RU" sz="1800" dirty="0" err="1">
                <a:ea typeface="+mn-lt"/>
                <a:cs typeface="+mn-lt"/>
              </a:rPr>
              <a:t>logins</a:t>
            </a:r>
            <a:r>
              <a:rPr lang="ru-RU" sz="1800" dirty="0">
                <a:ea typeface="+mn-lt"/>
                <a:cs typeface="+mn-lt"/>
              </a:rPr>
              <a:t>/</a:t>
            </a:r>
            <a:r>
              <a:rPr lang="ru-RU" sz="1800" dirty="0" err="1">
                <a:ea typeface="+mn-lt"/>
                <a:cs typeface="+mn-lt"/>
              </a:rPr>
              <a:t>passwords</a:t>
            </a:r>
            <a:endParaRPr lang="ru-RU" dirty="0" err="1"/>
          </a:p>
          <a:p>
            <a:r>
              <a:rPr lang="ru-RU" sz="1800" dirty="0" err="1">
                <a:ea typeface="+mn-lt"/>
                <a:cs typeface="+mn-lt"/>
              </a:rPr>
              <a:t>Restrict</a:t>
            </a:r>
            <a:r>
              <a:rPr lang="ru-RU" sz="1800" dirty="0">
                <a:ea typeface="+mn-lt"/>
                <a:cs typeface="+mn-lt"/>
              </a:rPr>
              <a:t> </a:t>
            </a:r>
            <a:r>
              <a:rPr lang="ru-RU" sz="1800" dirty="0" err="1">
                <a:ea typeface="+mn-lt"/>
                <a:cs typeface="+mn-lt"/>
              </a:rPr>
              <a:t>access</a:t>
            </a:r>
            <a:r>
              <a:rPr lang="ru-RU" sz="1800" dirty="0">
                <a:ea typeface="+mn-lt"/>
                <a:cs typeface="+mn-lt"/>
              </a:rPr>
              <a:t> </a:t>
            </a:r>
            <a:r>
              <a:rPr lang="ru-RU" sz="1800" dirty="0" err="1">
                <a:ea typeface="+mn-lt"/>
                <a:cs typeface="+mn-lt"/>
              </a:rPr>
              <a:t>to</a:t>
            </a:r>
            <a:r>
              <a:rPr lang="ru-RU" sz="1800" dirty="0">
                <a:ea typeface="+mn-lt"/>
                <a:cs typeface="+mn-lt"/>
              </a:rPr>
              <a:t> </a:t>
            </a:r>
            <a:r>
              <a:rPr lang="ru-RU" sz="1800" dirty="0" err="1">
                <a:ea typeface="+mn-lt"/>
                <a:cs typeface="+mn-lt"/>
              </a:rPr>
              <a:t>the</a:t>
            </a:r>
            <a:r>
              <a:rPr lang="ru-RU" sz="1800" dirty="0">
                <a:ea typeface="+mn-lt"/>
                <a:cs typeface="+mn-lt"/>
              </a:rPr>
              <a:t> </a:t>
            </a:r>
            <a:r>
              <a:rPr lang="ru-RU" sz="1800" dirty="0" err="1">
                <a:ea typeface="+mn-lt"/>
                <a:cs typeface="+mn-lt"/>
              </a:rPr>
              <a:t>admin</a:t>
            </a:r>
            <a:r>
              <a:rPr lang="ru-RU" sz="1800" dirty="0">
                <a:ea typeface="+mn-lt"/>
                <a:cs typeface="+mn-lt"/>
              </a:rPr>
              <a:t> </a:t>
            </a:r>
            <a:r>
              <a:rPr lang="ru-RU" sz="1800" dirty="0" err="1">
                <a:ea typeface="+mn-lt"/>
                <a:cs typeface="+mn-lt"/>
              </a:rPr>
              <a:t>area</a:t>
            </a:r>
            <a:endParaRPr lang="ru-RU" dirty="0" err="1"/>
          </a:p>
          <a:p>
            <a:r>
              <a:rPr lang="ru-RU" sz="1800" dirty="0" err="1">
                <a:ea typeface="+mn-lt"/>
                <a:cs typeface="+mn-lt"/>
              </a:rPr>
              <a:t>Regularly</a:t>
            </a:r>
            <a:r>
              <a:rPr lang="ru-RU" sz="1800" dirty="0">
                <a:ea typeface="+mn-lt"/>
                <a:cs typeface="+mn-lt"/>
              </a:rPr>
              <a:t> </a:t>
            </a:r>
            <a:r>
              <a:rPr lang="ru-RU" sz="1800" dirty="0" err="1">
                <a:ea typeface="+mn-lt"/>
                <a:cs typeface="+mn-lt"/>
              </a:rPr>
              <a:t>update</a:t>
            </a:r>
            <a:r>
              <a:rPr lang="ru-RU" sz="1800" dirty="0">
                <a:ea typeface="+mn-lt"/>
                <a:cs typeface="+mn-lt"/>
              </a:rPr>
              <a:t> </a:t>
            </a:r>
            <a:r>
              <a:rPr lang="ru-RU" sz="1800" dirty="0" err="1">
                <a:ea typeface="+mn-lt"/>
                <a:cs typeface="+mn-lt"/>
              </a:rPr>
              <a:t>the</a:t>
            </a:r>
            <a:r>
              <a:rPr lang="ru-RU" sz="1800" dirty="0">
                <a:ea typeface="+mn-lt"/>
                <a:cs typeface="+mn-lt"/>
              </a:rPr>
              <a:t> </a:t>
            </a:r>
            <a:r>
              <a:rPr lang="ru-RU" sz="1800" dirty="0" err="1">
                <a:ea typeface="+mn-lt"/>
                <a:cs typeface="+mn-lt"/>
              </a:rPr>
              <a:t>server</a:t>
            </a:r>
            <a:r>
              <a:rPr lang="ru-RU" sz="1800" dirty="0">
                <a:ea typeface="+mn-lt"/>
                <a:cs typeface="+mn-lt"/>
              </a:rPr>
              <a:t>, </a:t>
            </a:r>
            <a:r>
              <a:rPr lang="ru-RU" sz="1800" dirty="0" err="1">
                <a:ea typeface="+mn-lt"/>
                <a:cs typeface="+mn-lt"/>
              </a:rPr>
              <a:t>packages</a:t>
            </a:r>
            <a:r>
              <a:rPr lang="ru-RU" sz="1800" dirty="0">
                <a:ea typeface="+mn-lt"/>
                <a:cs typeface="+mn-lt"/>
              </a:rPr>
              <a:t>, </a:t>
            </a:r>
            <a:r>
              <a:rPr lang="ru-RU" sz="1800" dirty="0" err="1">
                <a:ea typeface="+mn-lt"/>
                <a:cs typeface="+mn-lt"/>
              </a:rPr>
              <a:t>and</a:t>
            </a:r>
            <a:r>
              <a:rPr lang="ru-RU" sz="1800" dirty="0">
                <a:ea typeface="+mn-lt"/>
                <a:cs typeface="+mn-lt"/>
              </a:rPr>
              <a:t> </a:t>
            </a:r>
            <a:r>
              <a:rPr lang="ru-RU" sz="1800" dirty="0" err="1">
                <a:ea typeface="+mn-lt"/>
                <a:cs typeface="+mn-lt"/>
              </a:rPr>
              <a:t>frameworks</a:t>
            </a:r>
            <a:endParaRPr lang="ru-RU" dirty="0" err="1"/>
          </a:p>
          <a:p>
            <a:r>
              <a:rPr lang="ru-RU" sz="1800" dirty="0" err="1">
                <a:ea typeface="+mn-lt"/>
                <a:cs typeface="+mn-lt"/>
              </a:rPr>
              <a:t>Make</a:t>
            </a:r>
            <a:r>
              <a:rPr lang="ru-RU" sz="1800" dirty="0">
                <a:ea typeface="+mn-lt"/>
                <a:cs typeface="+mn-lt"/>
              </a:rPr>
              <a:t> </a:t>
            </a:r>
            <a:r>
              <a:rPr lang="ru-RU" sz="1800" dirty="0" err="1">
                <a:ea typeface="+mn-lt"/>
                <a:cs typeface="+mn-lt"/>
              </a:rPr>
              <a:t>automatic</a:t>
            </a:r>
            <a:r>
              <a:rPr lang="ru-RU" sz="1800" dirty="0">
                <a:ea typeface="+mn-lt"/>
                <a:cs typeface="+mn-lt"/>
              </a:rPr>
              <a:t> </a:t>
            </a:r>
            <a:r>
              <a:rPr lang="ru-RU" sz="1800" dirty="0" err="1">
                <a:ea typeface="+mn-lt"/>
                <a:cs typeface="+mn-lt"/>
              </a:rPr>
              <a:t>security</a:t>
            </a:r>
            <a:r>
              <a:rPr lang="ru-RU" sz="1800" dirty="0">
                <a:ea typeface="+mn-lt"/>
                <a:cs typeface="+mn-lt"/>
              </a:rPr>
              <a:t> </a:t>
            </a:r>
            <a:r>
              <a:rPr lang="ru-RU" sz="1800" dirty="0" err="1">
                <a:ea typeface="+mn-lt"/>
                <a:cs typeface="+mn-lt"/>
              </a:rPr>
              <a:t>scans</a:t>
            </a:r>
            <a:r>
              <a:rPr lang="ru-RU" sz="1800" dirty="0">
                <a:ea typeface="+mn-lt"/>
                <a:cs typeface="+mn-lt"/>
              </a:rPr>
              <a:t> (</a:t>
            </a:r>
            <a:r>
              <a:rPr lang="ru-RU" sz="1800" dirty="0" err="1">
                <a:ea typeface="+mn-lt"/>
                <a:cs typeface="+mn-lt"/>
              </a:rPr>
              <a:t>for</a:t>
            </a:r>
            <a:r>
              <a:rPr lang="ru-RU" sz="1800" dirty="0">
                <a:ea typeface="+mn-lt"/>
                <a:cs typeface="+mn-lt"/>
              </a:rPr>
              <a:t> </a:t>
            </a:r>
            <a:r>
              <a:rPr lang="ru-RU" sz="1800" dirty="0" err="1">
                <a:ea typeface="+mn-lt"/>
                <a:cs typeface="+mn-lt"/>
              </a:rPr>
              <a:t>example</a:t>
            </a:r>
            <a:r>
              <a:rPr lang="ru-RU" sz="1800" dirty="0">
                <a:ea typeface="+mn-lt"/>
                <a:cs typeface="+mn-lt"/>
              </a:rPr>
              <a:t>, OWASP ZAP)</a:t>
            </a:r>
            <a:endParaRPr lang="ru-RU" dirty="0"/>
          </a:p>
        </p:txBody>
      </p:sp>
      <p:pic>
        <p:nvPicPr>
          <p:cNvPr id="4" name="Рисунок 3" descr="Изображение выглядит как текст, снимок экрана, диаграмм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00C755F-F0A4-6472-C793-C7BE2D5E3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730" y="2087346"/>
            <a:ext cx="7247245" cy="317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095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4535D5-D3EC-C448-3C4A-C77A64A24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компьютер, ноутбук,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3E3E973-E75B-9D5F-DF6E-4C1E2813BFB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573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881FF8-9BDC-13F5-772E-63C70F830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600" err="1">
                <a:solidFill>
                  <a:srgbClr val="FFFFFF"/>
                </a:solidFill>
                <a:highlight>
                  <a:srgbClr val="004A7B"/>
                </a:highlight>
                <a:ea typeface="+mj-lt"/>
                <a:cs typeface="+mj-lt"/>
              </a:rPr>
              <a:t>Summary</a:t>
            </a:r>
            <a:endParaRPr lang="ru-RU" sz="4600" err="1">
              <a:solidFill>
                <a:srgbClr val="FFFFFF"/>
              </a:solidFill>
              <a:highlight>
                <a:srgbClr val="004A7B"/>
              </a:highlight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31E2BA1-5B9F-A90F-6F9F-27456E2E01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ru-RU" sz="3000" b="0" err="1">
                <a:solidFill>
                  <a:srgbClr val="FFFFFF"/>
                </a:solidFill>
                <a:highlight>
                  <a:srgbClr val="004A7B"/>
                </a:highlight>
                <a:ea typeface="+mn-lt"/>
                <a:cs typeface="+mn-lt"/>
              </a:rPr>
              <a:t>Broken</a:t>
            </a:r>
            <a:r>
              <a:rPr lang="ru-RU" sz="3000" b="0" dirty="0">
                <a:solidFill>
                  <a:srgbClr val="FFFFFF"/>
                </a:solidFill>
                <a:highlight>
                  <a:srgbClr val="004A7B"/>
                </a:highlight>
                <a:ea typeface="+mn-lt"/>
                <a:cs typeface="+mn-lt"/>
              </a:rPr>
              <a:t> Access Control</a:t>
            </a:r>
            <a:endParaRPr lang="ru-RU" sz="3000">
              <a:highlight>
                <a:srgbClr val="004A7B"/>
              </a:highlight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59EB93CE-B198-6764-82AF-30324EC726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0788" y="2818225"/>
            <a:ext cx="4458417" cy="33714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600" err="1">
                <a:highlight>
                  <a:srgbClr val="004A7B"/>
                </a:highlight>
                <a:ea typeface="+mn-lt"/>
                <a:cs typeface="+mn-lt"/>
              </a:rPr>
              <a:t>Error</a:t>
            </a:r>
            <a:r>
              <a:rPr lang="ru-RU" sz="2600" dirty="0">
                <a:highlight>
                  <a:srgbClr val="004A7B"/>
                </a:highlight>
                <a:ea typeface="+mn-lt"/>
                <a:cs typeface="+mn-lt"/>
              </a:rPr>
              <a:t> </a:t>
            </a:r>
            <a:r>
              <a:rPr lang="ru-RU" sz="2600" err="1">
                <a:highlight>
                  <a:srgbClr val="004A7B"/>
                </a:highlight>
                <a:ea typeface="+mn-lt"/>
                <a:cs typeface="+mn-lt"/>
              </a:rPr>
              <a:t>in</a:t>
            </a:r>
            <a:r>
              <a:rPr lang="ru-RU" sz="2600" dirty="0">
                <a:highlight>
                  <a:srgbClr val="004A7B"/>
                </a:highlight>
                <a:ea typeface="+mn-lt"/>
                <a:cs typeface="+mn-lt"/>
              </a:rPr>
              <a:t> </a:t>
            </a:r>
            <a:r>
              <a:rPr lang="ru-RU" sz="2600" err="1">
                <a:highlight>
                  <a:srgbClr val="004A7B"/>
                </a:highlight>
                <a:ea typeface="+mn-lt"/>
                <a:cs typeface="+mn-lt"/>
              </a:rPr>
              <a:t>access</a:t>
            </a:r>
            <a:r>
              <a:rPr lang="ru-RU" sz="2600" dirty="0">
                <a:highlight>
                  <a:srgbClr val="004A7B"/>
                </a:highlight>
                <a:ea typeface="+mn-lt"/>
                <a:cs typeface="+mn-lt"/>
              </a:rPr>
              <a:t> </a:t>
            </a:r>
            <a:r>
              <a:rPr lang="ru-RU" sz="2600" err="1">
                <a:highlight>
                  <a:srgbClr val="004A7B"/>
                </a:highlight>
                <a:ea typeface="+mn-lt"/>
                <a:cs typeface="+mn-lt"/>
              </a:rPr>
              <a:t>rights</a:t>
            </a:r>
            <a:endParaRPr lang="ru-RU" sz="2600">
              <a:highlight>
                <a:srgbClr val="004A7B"/>
              </a:highlight>
            </a:endParaRPr>
          </a:p>
          <a:p>
            <a:r>
              <a:rPr lang="ru-RU" sz="2600" err="1">
                <a:highlight>
                  <a:srgbClr val="004A7B"/>
                </a:highlight>
                <a:ea typeface="+mn-lt"/>
                <a:cs typeface="+mn-lt"/>
              </a:rPr>
              <a:t>Hackers</a:t>
            </a:r>
            <a:r>
              <a:rPr lang="ru-RU" sz="2600" dirty="0">
                <a:highlight>
                  <a:srgbClr val="004A7B"/>
                </a:highlight>
                <a:ea typeface="+mn-lt"/>
                <a:cs typeface="+mn-lt"/>
              </a:rPr>
              <a:t> </a:t>
            </a:r>
            <a:r>
              <a:rPr lang="ru-RU" sz="2600" err="1">
                <a:highlight>
                  <a:srgbClr val="004A7B"/>
                </a:highlight>
                <a:ea typeface="+mn-lt"/>
                <a:cs typeface="+mn-lt"/>
              </a:rPr>
              <a:t>change</a:t>
            </a:r>
            <a:r>
              <a:rPr lang="ru-RU" sz="2600" dirty="0">
                <a:highlight>
                  <a:srgbClr val="004A7B"/>
                </a:highlight>
                <a:ea typeface="+mn-lt"/>
                <a:cs typeface="+mn-lt"/>
              </a:rPr>
              <a:t> </a:t>
            </a:r>
            <a:r>
              <a:rPr lang="ru-RU" sz="2600" err="1">
                <a:highlight>
                  <a:srgbClr val="004A7B"/>
                </a:highlight>
                <a:ea typeface="+mn-lt"/>
                <a:cs typeface="+mn-lt"/>
              </a:rPr>
              <a:t>URLs</a:t>
            </a:r>
            <a:r>
              <a:rPr lang="ru-RU" sz="2600" dirty="0">
                <a:highlight>
                  <a:srgbClr val="004A7B"/>
                </a:highlight>
                <a:ea typeface="+mn-lt"/>
                <a:cs typeface="+mn-lt"/>
              </a:rPr>
              <a:t>, </a:t>
            </a:r>
            <a:r>
              <a:rPr lang="ru-RU" sz="2600" err="1">
                <a:highlight>
                  <a:srgbClr val="004A7B"/>
                </a:highlight>
                <a:ea typeface="+mn-lt"/>
                <a:cs typeface="+mn-lt"/>
              </a:rPr>
              <a:t>roles</a:t>
            </a:r>
            <a:r>
              <a:rPr lang="ru-RU" sz="2600" dirty="0">
                <a:highlight>
                  <a:srgbClr val="004A7B"/>
                </a:highlight>
                <a:ea typeface="+mn-lt"/>
                <a:cs typeface="+mn-lt"/>
              </a:rPr>
              <a:t>, </a:t>
            </a:r>
            <a:r>
              <a:rPr lang="ru-RU" sz="2600" err="1">
                <a:highlight>
                  <a:srgbClr val="004A7B"/>
                </a:highlight>
                <a:ea typeface="+mn-lt"/>
                <a:cs typeface="+mn-lt"/>
              </a:rPr>
              <a:t>IDs</a:t>
            </a:r>
            <a:endParaRPr lang="ru-RU" sz="2600">
              <a:highlight>
                <a:srgbClr val="004A7B"/>
              </a:highlight>
            </a:endParaRPr>
          </a:p>
          <a:p>
            <a:r>
              <a:rPr lang="ru-RU" sz="2600" dirty="0">
                <a:highlight>
                  <a:srgbClr val="004A7B"/>
                </a:highlight>
                <a:ea typeface="+mn-lt"/>
                <a:cs typeface="+mn-lt"/>
              </a:rPr>
              <a:t>Solution: </a:t>
            </a:r>
            <a:r>
              <a:rPr lang="ru-RU" sz="2600" err="1">
                <a:highlight>
                  <a:srgbClr val="004A7B"/>
                </a:highlight>
                <a:ea typeface="+mn-lt"/>
                <a:cs typeface="+mn-lt"/>
              </a:rPr>
              <a:t>strict</a:t>
            </a:r>
            <a:r>
              <a:rPr lang="ru-RU" sz="2600" dirty="0">
                <a:highlight>
                  <a:srgbClr val="004A7B"/>
                </a:highlight>
                <a:ea typeface="+mn-lt"/>
                <a:cs typeface="+mn-lt"/>
              </a:rPr>
              <a:t> </a:t>
            </a:r>
            <a:r>
              <a:rPr lang="ru-RU" sz="2600" err="1">
                <a:highlight>
                  <a:srgbClr val="004A7B"/>
                </a:highlight>
                <a:ea typeface="+mn-lt"/>
                <a:cs typeface="+mn-lt"/>
              </a:rPr>
              <a:t>server</a:t>
            </a:r>
            <a:r>
              <a:rPr lang="ru-RU" sz="2600" dirty="0">
                <a:highlight>
                  <a:srgbClr val="004A7B"/>
                </a:highlight>
                <a:ea typeface="+mn-lt"/>
                <a:cs typeface="+mn-lt"/>
              </a:rPr>
              <a:t> </a:t>
            </a:r>
            <a:r>
              <a:rPr lang="ru-RU" sz="2600" err="1">
                <a:highlight>
                  <a:srgbClr val="004A7B"/>
                </a:highlight>
                <a:ea typeface="+mn-lt"/>
                <a:cs typeface="+mn-lt"/>
              </a:rPr>
              <a:t>checks</a:t>
            </a:r>
            <a:endParaRPr lang="ru-RU" sz="2600">
              <a:highlight>
                <a:srgbClr val="004A7B"/>
              </a:highlight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B3F810A-F021-1EF8-74A5-988A5AE59D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ru-RU" sz="3000" b="0" dirty="0">
                <a:highlight>
                  <a:srgbClr val="004A7B"/>
                </a:highlight>
                <a:ea typeface="+mn-lt"/>
                <a:cs typeface="+mn-lt"/>
              </a:rPr>
              <a:t>Security </a:t>
            </a:r>
            <a:r>
              <a:rPr lang="ru-RU" sz="3000" b="0" err="1">
                <a:highlight>
                  <a:srgbClr val="004A7B"/>
                </a:highlight>
                <a:ea typeface="+mn-lt"/>
                <a:cs typeface="+mn-lt"/>
              </a:rPr>
              <a:t>Misconfiguration</a:t>
            </a:r>
            <a:endParaRPr lang="ru-RU" sz="3000">
              <a:highlight>
                <a:srgbClr val="004A7B"/>
              </a:highlight>
            </a:endParaRP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D1BE1DB4-ADCE-2D0B-9186-04EC87B9C0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1714" y="2818225"/>
            <a:ext cx="4652674" cy="33714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600" err="1">
                <a:solidFill>
                  <a:srgbClr val="FFFFFF"/>
                </a:solidFill>
                <a:highlight>
                  <a:srgbClr val="004A7B"/>
                </a:highlight>
                <a:ea typeface="+mn-lt"/>
                <a:cs typeface="+mn-lt"/>
              </a:rPr>
              <a:t>Error</a:t>
            </a:r>
            <a:r>
              <a:rPr lang="ru-RU" sz="2600" dirty="0">
                <a:solidFill>
                  <a:srgbClr val="FFFFFF"/>
                </a:solidFill>
                <a:highlight>
                  <a:srgbClr val="004A7B"/>
                </a:highlight>
                <a:ea typeface="+mn-lt"/>
                <a:cs typeface="+mn-lt"/>
              </a:rPr>
              <a:t> </a:t>
            </a:r>
            <a:r>
              <a:rPr lang="ru-RU" sz="2600" err="1">
                <a:solidFill>
                  <a:srgbClr val="FFFFFF"/>
                </a:solidFill>
                <a:highlight>
                  <a:srgbClr val="004A7B"/>
                </a:highlight>
                <a:ea typeface="+mn-lt"/>
                <a:cs typeface="+mn-lt"/>
              </a:rPr>
              <a:t>in</a:t>
            </a:r>
            <a:r>
              <a:rPr lang="ru-RU" sz="2600" dirty="0">
                <a:solidFill>
                  <a:srgbClr val="FFFFFF"/>
                </a:solidFill>
                <a:highlight>
                  <a:srgbClr val="004A7B"/>
                </a:highlight>
                <a:ea typeface="+mn-lt"/>
                <a:cs typeface="+mn-lt"/>
              </a:rPr>
              <a:t> </a:t>
            </a:r>
            <a:r>
              <a:rPr lang="ru-RU" sz="2600" err="1">
                <a:solidFill>
                  <a:srgbClr val="FFFFFF"/>
                </a:solidFill>
                <a:highlight>
                  <a:srgbClr val="004A7B"/>
                </a:highlight>
                <a:ea typeface="+mn-lt"/>
                <a:cs typeface="+mn-lt"/>
              </a:rPr>
              <a:t>settings</a:t>
            </a:r>
            <a:endParaRPr lang="ru-RU" sz="2600">
              <a:solidFill>
                <a:srgbClr val="FFFFFF"/>
              </a:solidFill>
              <a:highlight>
                <a:srgbClr val="004A7B"/>
              </a:highlight>
            </a:endParaRPr>
          </a:p>
          <a:p>
            <a:r>
              <a:rPr lang="ru-RU" sz="2600" err="1">
                <a:solidFill>
                  <a:srgbClr val="FFFFFF"/>
                </a:solidFill>
                <a:highlight>
                  <a:srgbClr val="004A7B"/>
                </a:highlight>
                <a:ea typeface="+mn-lt"/>
                <a:cs typeface="+mn-lt"/>
              </a:rPr>
              <a:t>Hackers</a:t>
            </a:r>
            <a:r>
              <a:rPr lang="ru-RU" sz="2600" dirty="0">
                <a:solidFill>
                  <a:srgbClr val="FFFFFF"/>
                </a:solidFill>
                <a:highlight>
                  <a:srgbClr val="004A7B"/>
                </a:highlight>
                <a:ea typeface="+mn-lt"/>
                <a:cs typeface="+mn-lt"/>
              </a:rPr>
              <a:t> </a:t>
            </a:r>
            <a:r>
              <a:rPr lang="ru-RU" sz="2600" err="1">
                <a:solidFill>
                  <a:srgbClr val="FFFFFF"/>
                </a:solidFill>
                <a:highlight>
                  <a:srgbClr val="004A7B"/>
                </a:highlight>
                <a:ea typeface="+mn-lt"/>
                <a:cs typeface="+mn-lt"/>
              </a:rPr>
              <a:t>use</a:t>
            </a:r>
            <a:r>
              <a:rPr lang="ru-RU" sz="2600" dirty="0">
                <a:solidFill>
                  <a:srgbClr val="FFFFFF"/>
                </a:solidFill>
                <a:highlight>
                  <a:srgbClr val="004A7B"/>
                </a:highlight>
                <a:ea typeface="+mn-lt"/>
                <a:cs typeface="+mn-lt"/>
              </a:rPr>
              <a:t> </a:t>
            </a:r>
            <a:r>
              <a:rPr lang="ru-RU" sz="2600" err="1">
                <a:solidFill>
                  <a:srgbClr val="FFFFFF"/>
                </a:solidFill>
                <a:highlight>
                  <a:srgbClr val="004A7B"/>
                </a:highlight>
                <a:ea typeface="+mn-lt"/>
                <a:cs typeface="+mn-lt"/>
              </a:rPr>
              <a:t>debug</a:t>
            </a:r>
            <a:r>
              <a:rPr lang="ru-RU" sz="2600" dirty="0">
                <a:solidFill>
                  <a:srgbClr val="FFFFFF"/>
                </a:solidFill>
                <a:highlight>
                  <a:srgbClr val="004A7B"/>
                </a:highlight>
                <a:ea typeface="+mn-lt"/>
                <a:cs typeface="+mn-lt"/>
              </a:rPr>
              <a:t> </a:t>
            </a:r>
            <a:r>
              <a:rPr lang="ru-RU" sz="2600" err="1">
                <a:solidFill>
                  <a:srgbClr val="FFFFFF"/>
                </a:solidFill>
                <a:highlight>
                  <a:srgbClr val="004A7B"/>
                </a:highlight>
                <a:ea typeface="+mn-lt"/>
                <a:cs typeface="+mn-lt"/>
              </a:rPr>
              <a:t>mode</a:t>
            </a:r>
            <a:r>
              <a:rPr lang="ru-RU" sz="2600" dirty="0">
                <a:solidFill>
                  <a:srgbClr val="FFFFFF"/>
                </a:solidFill>
                <a:highlight>
                  <a:srgbClr val="004A7B"/>
                </a:highlight>
                <a:ea typeface="+mn-lt"/>
                <a:cs typeface="+mn-lt"/>
              </a:rPr>
              <a:t>, </a:t>
            </a:r>
            <a:r>
              <a:rPr lang="ru-RU" sz="2600" err="1">
                <a:solidFill>
                  <a:srgbClr val="FFFFFF"/>
                </a:solidFill>
                <a:highlight>
                  <a:srgbClr val="004A7B"/>
                </a:highlight>
                <a:ea typeface="+mn-lt"/>
                <a:cs typeface="+mn-lt"/>
              </a:rPr>
              <a:t>default</a:t>
            </a:r>
            <a:r>
              <a:rPr lang="ru-RU" sz="2600" dirty="0">
                <a:solidFill>
                  <a:srgbClr val="FFFFFF"/>
                </a:solidFill>
                <a:highlight>
                  <a:srgbClr val="004A7B"/>
                </a:highlight>
                <a:ea typeface="+mn-lt"/>
                <a:cs typeface="+mn-lt"/>
              </a:rPr>
              <a:t> </a:t>
            </a:r>
            <a:r>
              <a:rPr lang="ru-RU" sz="2600" err="1">
                <a:solidFill>
                  <a:srgbClr val="FFFFFF"/>
                </a:solidFill>
                <a:highlight>
                  <a:srgbClr val="004A7B"/>
                </a:highlight>
                <a:ea typeface="+mn-lt"/>
                <a:cs typeface="+mn-lt"/>
              </a:rPr>
              <a:t>passwords</a:t>
            </a:r>
            <a:r>
              <a:rPr lang="ru-RU" sz="2600" dirty="0">
                <a:solidFill>
                  <a:srgbClr val="FFFFFF"/>
                </a:solidFill>
                <a:highlight>
                  <a:srgbClr val="004A7B"/>
                </a:highlight>
                <a:ea typeface="+mn-lt"/>
                <a:cs typeface="+mn-lt"/>
              </a:rPr>
              <a:t>, </a:t>
            </a:r>
            <a:r>
              <a:rPr lang="ru-RU" sz="2600" err="1">
                <a:solidFill>
                  <a:srgbClr val="FFFFFF"/>
                </a:solidFill>
                <a:highlight>
                  <a:srgbClr val="004A7B"/>
                </a:highlight>
                <a:ea typeface="+mn-lt"/>
                <a:cs typeface="+mn-lt"/>
              </a:rPr>
              <a:t>open</a:t>
            </a:r>
            <a:r>
              <a:rPr lang="ru-RU" sz="2600" dirty="0">
                <a:solidFill>
                  <a:srgbClr val="FFFFFF"/>
                </a:solidFill>
                <a:highlight>
                  <a:srgbClr val="004A7B"/>
                </a:highlight>
                <a:ea typeface="+mn-lt"/>
                <a:cs typeface="+mn-lt"/>
              </a:rPr>
              <a:t> </a:t>
            </a:r>
            <a:r>
              <a:rPr lang="ru-RU" sz="2600" err="1">
                <a:solidFill>
                  <a:srgbClr val="FFFFFF"/>
                </a:solidFill>
                <a:highlight>
                  <a:srgbClr val="004A7B"/>
                </a:highlight>
                <a:ea typeface="+mn-lt"/>
                <a:cs typeface="+mn-lt"/>
              </a:rPr>
              <a:t>panels</a:t>
            </a:r>
            <a:endParaRPr lang="ru-RU" sz="2600">
              <a:solidFill>
                <a:srgbClr val="FFFFFF"/>
              </a:solidFill>
              <a:highlight>
                <a:srgbClr val="004A7B"/>
              </a:highlight>
            </a:endParaRPr>
          </a:p>
          <a:p>
            <a:r>
              <a:rPr lang="ru-RU" sz="2600" dirty="0">
                <a:solidFill>
                  <a:srgbClr val="FFFFFF"/>
                </a:solidFill>
                <a:highlight>
                  <a:srgbClr val="004A7B"/>
                </a:highlight>
                <a:ea typeface="+mn-lt"/>
                <a:cs typeface="+mn-lt"/>
              </a:rPr>
              <a:t>Solution: </a:t>
            </a:r>
            <a:r>
              <a:rPr lang="ru-RU" sz="2600" err="1">
                <a:solidFill>
                  <a:srgbClr val="FFFFFF"/>
                </a:solidFill>
                <a:highlight>
                  <a:srgbClr val="004A7B"/>
                </a:highlight>
                <a:ea typeface="+mn-lt"/>
                <a:cs typeface="+mn-lt"/>
              </a:rPr>
              <a:t>correct</a:t>
            </a:r>
            <a:r>
              <a:rPr lang="ru-RU" sz="2600" dirty="0">
                <a:solidFill>
                  <a:srgbClr val="FFFFFF"/>
                </a:solidFill>
                <a:highlight>
                  <a:srgbClr val="004A7B"/>
                </a:highlight>
                <a:ea typeface="+mn-lt"/>
                <a:cs typeface="+mn-lt"/>
              </a:rPr>
              <a:t> </a:t>
            </a:r>
            <a:r>
              <a:rPr lang="ru-RU" sz="2600" err="1">
                <a:solidFill>
                  <a:srgbClr val="FFFFFF"/>
                </a:solidFill>
                <a:highlight>
                  <a:srgbClr val="004A7B"/>
                </a:highlight>
                <a:ea typeface="+mn-lt"/>
                <a:cs typeface="+mn-lt"/>
              </a:rPr>
              <a:t>configs</a:t>
            </a:r>
            <a:r>
              <a:rPr lang="ru-RU" sz="2600" dirty="0">
                <a:solidFill>
                  <a:srgbClr val="FFFFFF"/>
                </a:solidFill>
                <a:highlight>
                  <a:srgbClr val="004A7B"/>
                </a:highlight>
                <a:ea typeface="+mn-lt"/>
                <a:cs typeface="+mn-lt"/>
              </a:rPr>
              <a:t>, </a:t>
            </a:r>
            <a:r>
              <a:rPr lang="ru-RU" sz="2600" err="1">
                <a:solidFill>
                  <a:srgbClr val="FFFFFF"/>
                </a:solidFill>
                <a:highlight>
                  <a:srgbClr val="004A7B"/>
                </a:highlight>
                <a:ea typeface="+mn-lt"/>
                <a:cs typeface="+mn-lt"/>
              </a:rPr>
              <a:t>updates</a:t>
            </a:r>
            <a:r>
              <a:rPr lang="ru-RU" sz="2600" dirty="0">
                <a:solidFill>
                  <a:srgbClr val="FFFFFF"/>
                </a:solidFill>
                <a:highlight>
                  <a:srgbClr val="004A7B"/>
                </a:highlight>
                <a:ea typeface="+mn-lt"/>
                <a:cs typeface="+mn-lt"/>
              </a:rPr>
              <a:t>, </a:t>
            </a:r>
            <a:r>
              <a:rPr lang="ru-RU" sz="2600" err="1">
                <a:solidFill>
                  <a:srgbClr val="FFFFFF"/>
                </a:solidFill>
                <a:highlight>
                  <a:srgbClr val="004A7B"/>
                </a:highlight>
                <a:ea typeface="+mn-lt"/>
                <a:cs typeface="+mn-lt"/>
              </a:rPr>
              <a:t>scans</a:t>
            </a:r>
            <a:endParaRPr lang="ru-RU" sz="2600">
              <a:solidFill>
                <a:srgbClr val="FFFFFF"/>
              </a:solidFill>
              <a:highlight>
                <a:srgbClr val="004A7B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40462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Web Security: Broken Access Control &amp; Security Misconfiguration</vt:lpstr>
      <vt:lpstr>Broken Access Control</vt:lpstr>
      <vt:lpstr>How Hackers Exploit It</vt:lpstr>
      <vt:lpstr>How to Prevent Broken Access Control</vt:lpstr>
      <vt:lpstr>Security Misconfiguration</vt:lpstr>
      <vt:lpstr>How Hackers Exploit Misconfigurations</vt:lpstr>
      <vt:lpstr>How to Prevent Security Misconfiguration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158</cp:revision>
  <dcterms:created xsi:type="dcterms:W3CDTF">2025-12-10T02:44:42Z</dcterms:created>
  <dcterms:modified xsi:type="dcterms:W3CDTF">2025-12-10T04:41:58Z</dcterms:modified>
</cp:coreProperties>
</file>